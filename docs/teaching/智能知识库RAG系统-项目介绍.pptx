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ECDC4"/>
                </a:solidFill>
                <a:latin typeface="PingFang SC"/>
              </a:rPr>
              <a:t>● 研究生面试 · 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PingFang SC"/>
              </a:rPr>
              <a:t>智能知识库 RAG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8AEBB"/>
                </a:solidFill>
                <a:latin typeface="PingFang SC"/>
              </a:rPr>
              <a:t>基于检索增强生成技术，让 AI 读懂你的文档并精准回答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927" y="4114800"/>
            <a:ext cx="146304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Spring Boot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64127" y="4114800"/>
            <a:ext cx="146304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Vue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4327" y="4114800"/>
            <a:ext cx="146304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Python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4527" y="4114800"/>
            <a:ext cx="146304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RAG 全链路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64727" y="4114800"/>
            <a:ext cx="146304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OpenAI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为什么做这个项目？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AEBB"/>
                </a:solidFill>
                <a:latin typeface="PingFang SC"/>
              </a:rPr>
              <a:t>大语言模型虽然强大，但存在三个关键限制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2560320"/>
            <a:ext cx="3291840" cy="21031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2999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知识截止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3310128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训练数据有截止日期，无法回答最新发生的事情，比如最近的政策变更、新闻事件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2560320"/>
            <a:ext cx="3291840" cy="21031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087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2999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私有数据盲区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3310128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不了解企业内部文档、产品手册、规章制度等私有知识，无法回答企业特定问题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0367" y="2560320"/>
            <a:ext cx="3291840" cy="21031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7527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29992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幻觉问题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527" y="3310128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对不确定的内容可能「编造」看似合理实则错误的答案，且无法追溯来源验证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RAG — 检索增强生成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AEBB"/>
                </a:solidFill>
                <a:latin typeface="PingFang SC"/>
              </a:rPr>
              <a:t>不让大模型凭记忆答题，而是先从文档中找到答案再让它组织回答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651760"/>
            <a:ext cx="5029200" cy="25603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7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3090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闭卷考试（纯 ChatGPT）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340156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• 只靠模型记忆回答</a:t>
            </a:r>
            <a:br/>
            <a:r>
              <a:rPr sz="1150" b="0">
                <a:solidFill>
                  <a:srgbClr val="A8AEBB"/>
                </a:solidFill>
                <a:latin typeface="PingFang SC"/>
              </a:rPr>
              <a:t>• 可能记错、可能编造</a:t>
            </a:r>
            <a:br/>
            <a:r>
              <a:rPr sz="1150" b="0">
                <a:solidFill>
                  <a:srgbClr val="A8AEBB"/>
                </a:solidFill>
                <a:latin typeface="PingFang SC"/>
              </a:rPr>
              <a:t>• 不能回答私有问题</a:t>
            </a:r>
            <a:br/>
            <a:r>
              <a:rPr sz="1150" b="0">
                <a:solidFill>
                  <a:srgbClr val="A8AEBB"/>
                </a:solidFill>
                <a:latin typeface="PingFang SC"/>
              </a:rPr>
              <a:t>• 无法引用来源验证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651760"/>
            <a:ext cx="5029200" cy="2560320"/>
          </a:xfrm>
          <a:prstGeom prst="roundRect">
            <a:avLst/>
          </a:prstGeom>
          <a:solidFill>
            <a:srgbClr val="1C2234"/>
          </a:solidFill>
          <a:ln w="12700">
            <a:solidFill>
              <a:srgbClr val="3A4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090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开卷考试（本项目 RAG）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40156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• 先检索文档找到相关段落</a:t>
            </a:r>
            <a:br/>
            <a:r>
              <a:rPr sz="1150" b="0">
                <a:solidFill>
                  <a:srgbClr val="A8AEBB"/>
                </a:solidFill>
                <a:latin typeface="PingFang SC"/>
              </a:rPr>
              <a:t>• 基于原文生成回答</a:t>
            </a:r>
            <a:br/>
            <a:r>
              <a:rPr sz="1150" b="0">
                <a:solidFill>
                  <a:srgbClr val="A8AEBB"/>
                </a:solidFill>
                <a:latin typeface="PingFang SC"/>
              </a:rPr>
              <a:t>• 有据可查、来源可追溯</a:t>
            </a:r>
            <a:br/>
            <a:r>
              <a:rPr sz="1150" b="0">
                <a:solidFill>
                  <a:srgbClr val="A8AEBB"/>
                </a:solidFill>
                <a:latin typeface="PingFang SC"/>
              </a:rPr>
              <a:t>• 不相关时明确告知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四大核心功能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767" y="2194560"/>
            <a:ext cx="5029200" cy="16459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0927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0927" y="2633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① 知识库管理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9443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创建知识库并配置 RAG 参数（Embedding 模型、分块大小、重叠大小），前端可视化编辑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94560"/>
            <a:ext cx="5029200" cy="16459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2633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② 文档上传与解析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9443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支持 PDF/Word/TXT/MD，自动经历 解析→分块→向量化 的完整 Pipeline，状态实时可见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767" y="4023360"/>
            <a:ext cx="5029200" cy="16459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0927" y="4133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927" y="4462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③ 切片查看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47731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左右分栏展示原文与切片对照，每个 Chunk 的内容和在原文中的位置一目了然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4023360"/>
            <a:ext cx="5029200" cy="16459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4133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4462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④ 智能问答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7731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基于知识库的 AI 对话，严格引用原文并标注来源，支持多轮对话和动态知识库切换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系统整体架构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C8CFF"/>
                </a:solidFill>
                <a:latin typeface="PingFang SC"/>
              </a:rPr>
              <a:t>前端 — Vue 3 + Element Plus + Tailwind CSS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2879" y="233172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2879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📂 知识库管理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2879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含 RAG 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0511" y="233172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0511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📄 文档上传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0511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状态机展示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233172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8143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🔍 切片查看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8143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双栏对照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5775" y="233172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5775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💬 智能对话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775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引用 + 历史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ingFang SC"/>
              </a:rPr>
              <a:t>▼  REST API  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ECDC4"/>
                </a:solidFill>
                <a:latin typeface="PingFang SC"/>
              </a:rPr>
              <a:t>后端 — Spring Boot 3 + JPA + MySQL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2879" y="3931920"/>
            <a:ext cx="1463040" cy="868680"/>
          </a:xfrm>
          <a:prstGeom prst="roundRect">
            <a:avLst/>
          </a:prstGeom>
          <a:solidFill>
            <a:srgbClr val="1A2238"/>
          </a:solidFill>
          <a:ln w="12700">
            <a:solidFill>
              <a:srgbClr val="3A5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879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⚙️ RAG 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2879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核心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0511" y="3931920"/>
            <a:ext cx="1463040" cy="868680"/>
          </a:xfrm>
          <a:prstGeom prst="roundRect">
            <a:avLst/>
          </a:prstGeom>
          <a:solidFill>
            <a:srgbClr val="1A2238"/>
          </a:solidFill>
          <a:ln w="12700">
            <a:solidFill>
              <a:srgbClr val="3A5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0511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🔄 启动重建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0511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VectorRebuilder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8143" y="3931920"/>
            <a:ext cx="1463040" cy="868680"/>
          </a:xfrm>
          <a:prstGeom prst="roundRect">
            <a:avLst/>
          </a:prstGeom>
          <a:solidFill>
            <a:srgbClr val="1A2238"/>
          </a:solidFill>
          <a:ln w="12700">
            <a:solidFill>
              <a:srgbClr val="3A5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8143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🧮 向量检索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8143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余弦相似度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05775" y="3931920"/>
            <a:ext cx="1463040" cy="868680"/>
          </a:xfrm>
          <a:prstGeom prst="roundRect">
            <a:avLst/>
          </a:prstGeom>
          <a:solidFill>
            <a:srgbClr val="1A2238"/>
          </a:solidFill>
          <a:ln w="12700">
            <a:solidFill>
              <a:srgbClr val="3A5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5775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🛡️ 防幻觉生成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5775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Prompt 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ingFang SC"/>
              </a:rPr>
              <a:t>▼  外部服务  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2879" y="52120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2879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🐍 doc-parser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2879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Python FastAPI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0511" y="52120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0511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📐 Embedding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0511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embedding-3-small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8143" y="52120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8143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🤖 LLM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8143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gpt-4o-mini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05775" y="52120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05775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🗄️ MySQL 8.0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5775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数据持久化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CORE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RAG 核心链路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C8CFF"/>
                </a:solidFill>
                <a:latin typeface="PingFang SC"/>
              </a:rPr>
              <a:t>阶段一：数据准备（离线）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📄 原始文档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PDF/Word/TXT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5436" y="2606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24688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542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🐍 文档解析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doc-parser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0228" y="2606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24688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542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✂️ 文本分块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500字/50重叠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5020" y="2606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46888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542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📐 向量化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1536维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9812" y="2606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2468880"/>
            <a:ext cx="1463040" cy="868680"/>
          </a:xfrm>
          <a:prstGeom prst="roundRect">
            <a:avLst/>
          </a:prstGeom>
          <a:solidFill>
            <a:srgbClr val="1A2238"/>
          </a:solidFill>
          <a:ln w="12700">
            <a:solidFill>
              <a:srgbClr val="3A5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2542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🗃️ 向量库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内存存储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CDC4"/>
                </a:solidFill>
                <a:latin typeface="PingFang SC"/>
              </a:rPr>
              <a:t>阶段二：智能问答（在线）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0624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❓ 用户提问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自然语言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5436" y="4343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9192" y="420624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9192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📐 问题向量化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919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同一模型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0228" y="4343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3984" y="420624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🔍 向量检索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Top-5+阈值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5020" y="4343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4206240"/>
            <a:ext cx="1463040" cy="868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08776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📋 构建Prompt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防幻觉+历史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9812" y="4343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PingFang SC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73568" y="4206240"/>
            <a:ext cx="1463040" cy="868680"/>
          </a:xfrm>
          <a:prstGeom prst="roundRect">
            <a:avLst/>
          </a:prstGeom>
          <a:solidFill>
            <a:srgbClr val="1A2238"/>
          </a:solidFill>
          <a:ln w="12700">
            <a:solidFill>
              <a:srgbClr val="3A5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2F5"/>
                </a:solidFill>
                <a:latin typeface="PingFang SC"/>
              </a:rPr>
              <a:t>🤖 LLM生成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PingFang SC"/>
              </a:rPr>
              <a:t>来源标注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技术选型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2286000"/>
            <a:ext cx="3291840" cy="274320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2367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8CFF"/>
                </a:solidFill>
                <a:latin typeface="PingFang SC"/>
              </a:rPr>
              <a:t>后端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367" y="2880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Spring Boot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367" y="308152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Web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3383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Spring Data JPA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358444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ORM 持久层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3886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MySQL 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408736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关系数据库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367" y="4389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LangChain4j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367" y="459028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文本分块工具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286000"/>
            <a:ext cx="3291840" cy="274320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CDC4"/>
                </a:solidFill>
                <a:latin typeface="PingFang SC"/>
              </a:rPr>
              <a:t>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880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Vue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308152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响应式 UI 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807" y="3383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358444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类型安全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807" y="3886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Element 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408736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UI 组件库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2807" y="4389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Tailwind 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459028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CSS 工具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0367" y="2286000"/>
            <a:ext cx="3291840" cy="274320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3247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B731"/>
                </a:solidFill>
                <a:latin typeface="PingFang SC"/>
              </a:rPr>
              <a:t>AI 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3247" y="2880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text-embedding-3-small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3247" y="308152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文本向量化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3247" y="3383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gpt-4o-mini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247" y="358444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回答生成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3247" y="3886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2F5"/>
                </a:solidFill>
                <a:latin typeface="PingFang SC"/>
              </a:rPr>
              <a:t>Python 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3247" y="408736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PingFang SC"/>
              </a:rPr>
              <a:t>文档解析服务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核心设计亮点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2148840"/>
            <a:ext cx="10058400" cy="5486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8087" y="2221992"/>
            <a:ext cx="411480" cy="38404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8CFF"/>
                </a:solidFill>
                <a:latin typeface="PingFang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5"/>
                </a:solidFill>
                <a:latin typeface="PingFang SC"/>
              </a:rPr>
              <a:t>手写余弦相似度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1287" y="21945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AEBB"/>
                </a:solidFill>
                <a:latin typeface="PingFang SC"/>
              </a:rPr>
              <a:t>没有使用向量数据库黑盒，自己实现 cosineSimilarity，理解向量检索的数学本质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647" y="2788920"/>
            <a:ext cx="10058400" cy="5486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8087" y="2862072"/>
            <a:ext cx="411480" cy="38404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8CFF"/>
                </a:solidFill>
                <a:latin typeface="PingFang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6727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5"/>
                </a:solidFill>
                <a:latin typeface="PingFang SC"/>
              </a:rPr>
              <a:t>启动自动重建向量索引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1287" y="28346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AEBB"/>
                </a:solidFill>
                <a:latin typeface="PingFang SC"/>
              </a:rPr>
              <a:t>VectorIndexRebuilder 监听 ApplicationReadyEvent，重启后自动从 DB 重建内存向量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6647" y="3429000"/>
            <a:ext cx="10058400" cy="5486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58087" y="3502152"/>
            <a:ext cx="411480" cy="38404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8CFF"/>
                </a:solidFill>
                <a:latin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5"/>
                </a:solidFill>
                <a:latin typeface="PingFang SC"/>
              </a:rPr>
              <a:t>三重防幻觉机制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1287" y="34747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AEBB"/>
                </a:solidFill>
                <a:latin typeface="PingFang SC"/>
              </a:rPr>
              <a:t>System Prompt 禁止编造 + 相关性判断（不相关时标 ❌）+ 来源标注真实文档名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647" y="4069080"/>
            <a:ext cx="10058400" cy="5486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58087" y="4142232"/>
            <a:ext cx="411480" cy="38404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8CFF"/>
                </a:solidFill>
                <a:latin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6727" y="4114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5"/>
                </a:solidFill>
                <a:latin typeface="PingFang SC"/>
              </a:rPr>
              <a:t>RAG 参数前端可配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1287" y="41148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AEBB"/>
                </a:solidFill>
                <a:latin typeface="PingFang SC"/>
              </a:rPr>
              <a:t>Embedding 模型、分块大小、重叠大小在前端可视化编辑，修改后支持重新解析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6647" y="4709160"/>
            <a:ext cx="10058400" cy="5486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8087" y="4782312"/>
            <a:ext cx="411480" cy="38404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8CFF"/>
                </a:solidFill>
                <a:latin typeface="PingFang S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6727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5"/>
                </a:solidFill>
                <a:latin typeface="PingFang SC"/>
              </a:rPr>
              <a:t>真实依赖无降级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1287" y="47548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AEBB"/>
                </a:solidFill>
                <a:latin typeface="PingFang SC"/>
              </a:rPr>
              <a:t>doc-parser 不可用时直接报错而非降级，确保每个环节都是真实的外部调用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6647" y="5349240"/>
            <a:ext cx="10058400" cy="5486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8087" y="5422392"/>
            <a:ext cx="411480" cy="38404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8CFF"/>
                </a:solidFill>
                <a:latin typeface="PingFang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6727" y="5394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5"/>
                </a:solidFill>
                <a:latin typeface="PingFang SC"/>
              </a:rPr>
              <a:t>动态知识库选择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1287" y="53949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AEBB"/>
                </a:solidFill>
                <a:latin typeface="PingFang SC"/>
              </a:rPr>
              <a:t>对话中可随时添加/移除关联知识库，空数组时自动切换为纯 LLM 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与成熟产品对标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AEBB"/>
                </a:solidFill>
                <a:latin typeface="PingFang SC"/>
              </a:rPr>
              <a:t>本项目对标 RAGFlow / Dify，聚焦 RAG 核心链路的完整实现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651760"/>
            <a:ext cx="9601200" cy="429768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407" y="2697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8CFF"/>
                </a:solidFill>
                <a:latin typeface="PingFang SC"/>
              </a:rPr>
              <a:t>能力维度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8327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8CFF"/>
                </a:solidFill>
                <a:latin typeface="PingFang SC"/>
              </a:rPr>
              <a:t>RAGFlow / Dify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5927" y="2697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8CFF"/>
                </a:solidFill>
                <a:latin typeface="PingFang SC"/>
              </a:rPr>
              <a:t>本项目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247" y="3108960"/>
            <a:ext cx="9601200" cy="429768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2407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文档解析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8327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OCR、表格、图片深度解析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5927" y="3154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PingFang SC"/>
              </a:rPr>
              <a:t>doc-parser 基础解析（真实调用）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95247" y="3566160"/>
            <a:ext cx="9601200" cy="429768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2407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分块策略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8327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多种策略 + 语义分块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611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PingFang SC"/>
              </a:rPr>
              <a:t>固定长度 + 句子边界优化，参数可配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5247" y="4023360"/>
            <a:ext cx="9601200" cy="429768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2407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向量存储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327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Milvus / Weaviate 专业向量库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5927" y="40690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PingFang SC"/>
              </a:rPr>
              <a:t>ConcurrentHashMap + 启动自动重建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5247" y="4480560"/>
            <a:ext cx="9601200" cy="429768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2407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检索策略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8327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混合检索 + Rerank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5927" y="4526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PingFang SC"/>
              </a:rPr>
              <a:t>手写余弦相似度 + 阈值过滤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95247" y="4937760"/>
            <a:ext cx="9601200" cy="429768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2407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幻觉控制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8327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Prompt 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5927" y="4983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PingFang SC"/>
              </a:rPr>
              <a:t>三重防幻觉 + 来源标注 + 相关性判断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95247" y="5394960"/>
            <a:ext cx="9601200" cy="429768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32407" y="5440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对话能力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8327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EBB"/>
                </a:solidFill>
                <a:latin typeface="PingFang SC"/>
              </a:rPr>
              <a:t>流式输出 + 多轮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5927" y="5440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PingFang SC"/>
              </a:rPr>
              <a:t>多轮对话（10轮历史）+ 动态 KB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9550" y="548640"/>
            <a:ext cx="2011680" cy="320040"/>
          </a:xfrm>
          <a:prstGeom prst="roundRect">
            <a:avLst/>
          </a:prstGeom>
          <a:solidFill>
            <a:srgbClr val="151A2E"/>
          </a:solidFill>
          <a:ln w="12700">
            <a:solidFill>
              <a:srgbClr val="3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6C8CFF"/>
                </a:solidFill>
                <a:latin typeface="PingFang SC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</a:rPr>
              <a:t>项目收获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767" y="2286000"/>
            <a:ext cx="5029200" cy="1828800"/>
          </a:xfrm>
          <a:prstGeom prst="roundRect">
            <a:avLst/>
          </a:prstGeom>
          <a:solidFill>
            <a:srgbClr val="1C2234"/>
          </a:solidFill>
          <a:ln w="12700">
            <a:solidFill>
              <a:srgbClr val="3A4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0927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0927" y="2724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深入理解 RAG 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303580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从文档解析、文本分块、Embedding 向量化到余弦相似度检索，每一步都有手写实现，真正理解了底层原理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286000"/>
            <a:ext cx="5029200" cy="1828800"/>
          </a:xfrm>
          <a:prstGeom prst="roundRect">
            <a:avLst/>
          </a:prstGeom>
          <a:solidFill>
            <a:srgbClr val="1C2234"/>
          </a:solidFill>
          <a:ln w="12700">
            <a:solidFill>
              <a:srgbClr val="3A4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🏗️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2724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工程化能力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03580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三端协作（Java + Vue + Python），服务间 HTTP 通信，异步处理、状态机设计、重启容错等工程实践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767" y="4297680"/>
            <a:ext cx="5029200" cy="1828800"/>
          </a:xfrm>
          <a:prstGeom prst="roundRect">
            <a:avLst/>
          </a:prstGeom>
          <a:solidFill>
            <a:srgbClr val="1C2234"/>
          </a:solidFill>
          <a:ln w="12700">
            <a:solidFill>
              <a:srgbClr val="3A4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0927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927" y="4736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AI 应用落地经验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504748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掌握了 Prompt Engineering 核心技巧，特别是防幻觉策略、来源标注、相关性判断等实际应用中的关键设计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4297680"/>
            <a:ext cx="5029200" cy="1828800"/>
          </a:xfrm>
          <a:prstGeom prst="roundRect">
            <a:avLst/>
          </a:prstGeom>
          <a:solidFill>
            <a:srgbClr val="1C2234"/>
          </a:solidFill>
          <a:ln w="12700">
            <a:solidFill>
              <a:srgbClr val="3A4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PingFang SC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4736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2F5"/>
                </a:solidFill>
                <a:latin typeface="PingFang SC"/>
              </a:rPr>
              <a:t>系统设计思维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504748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8AEBB"/>
                </a:solidFill>
                <a:latin typeface="PingFang SC"/>
              </a:rPr>
              <a:t>权衡了内存向量库 vs 生产向量库、降级策略 vs 真实依赖等设计决策，理解了不同场景下的取舍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ECDC4"/>
                </a:solidFill>
                <a:latin typeface="PingFang SC"/>
              </a:rPr>
              <a:t>●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PingFang SC"/>
              </a:rPr>
              <a:t>谢谢老师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8AEBB"/>
                </a:solidFill>
                <a:latin typeface="PingFang SC"/>
              </a:rPr>
              <a:t>欢迎提问，我可以现场演示系统运行效果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6727" y="4572000"/>
            <a:ext cx="164592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📂 知识库管理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9807" y="4572000"/>
            <a:ext cx="164592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📄 文档上传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2887" y="4572000"/>
            <a:ext cx="164592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🔍 切片查看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5967" y="4572000"/>
            <a:ext cx="164592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💬 智能问答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9047" y="4572000"/>
            <a:ext cx="1645920" cy="365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8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EBB"/>
                </a:solidFill>
                <a:latin typeface="PingFang SC"/>
              </a:rPr>
              <a:t>🧮 手写向量检索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